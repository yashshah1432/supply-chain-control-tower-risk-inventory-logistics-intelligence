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20"/>
      <p:bold r:id="rId21"/>
      <p:italic r:id="rId22"/>
      <p:boldItalic r:id="rId23"/>
    </p:embeddedFont>
    <p:embeddedFont>
      <p:font typeface="Helvetica Neue" panose="020B0604020202020204" charset="0"/>
      <p:regular r:id="rId24"/>
      <p:bold r:id="rId25"/>
      <p:italic r:id="rId26"/>
      <p:boldItalic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Oswald Light" panose="00000400000000000000" pitchFamily="2" charset="0"/>
      <p:regular r:id="rId40"/>
      <p:bold r:id="rId41"/>
    </p:embeddedFont>
    <p:embeddedFont>
      <p:font typeface="Raleway" pitchFamily="2" charset="0"/>
      <p:regular r:id="rId42"/>
      <p:bold r:id="rId43"/>
      <p:italic r:id="rId44"/>
      <p:boldItalic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936">
          <p15:clr>
            <a:srgbClr val="747775"/>
          </p15:clr>
        </p15:guide>
        <p15:guide id="4" pos="25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iyAj02LjGCE0GrZCs2evpI+4Bc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1EDE36-2210-4140-B68C-54EC92417216}">
  <a:tblStyle styleId="{4B1EDE36-2210-4140-B68C-54EC924172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584"/>
        <p:guide pos="2880"/>
        <p:guide orient="horz" pos="936"/>
        <p:guide pos="2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font" Target="fonts/font30.fntdata"/><Relationship Id="rId5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381a22848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381a22848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3d3d1a562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3d3d1a562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d3d1a562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d3d1a562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3d3d1a5626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3d3d1a5626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3d3d1a562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3d3d1a562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3d3d1a562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3d3d1a562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3d3d1a5626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3d3d1a5626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3d4cef3cc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3d4cef3cc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3d3d1a5626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3d3d1a5626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3d3d1a5626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3d3d1a5626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39ccac1fa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39ccac1fa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3d3d1a562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3d3d1a562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3d3d1a562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3d3d1a562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3d3d1a5626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3d3d1a5626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3d3d1a5626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3d3d1a5626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" name="Google Shape;26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 chứa tiêu đề 1">
  <p:cSld name="TITLE_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ctrTitle"/>
          </p:nvPr>
        </p:nvSpPr>
        <p:spPr>
          <a:xfrm>
            <a:off x="4570500" y="1531888"/>
            <a:ext cx="4116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 b="1">
                <a:solidFill>
                  <a:srgbClr val="11111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subTitle" idx="1"/>
          </p:nvPr>
        </p:nvSpPr>
        <p:spPr>
          <a:xfrm>
            <a:off x="4570503" y="3235113"/>
            <a:ext cx="41163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" name="Google Shape;15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53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1" name="Google Shape;21;p5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5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4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8" name="Google Shape;28;p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4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55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35" name="Google Shape;35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5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8" name="Google Shape;38;p5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56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43" name="Google Shape;43;p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5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56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57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52" name="Google Shape;52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5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5" name="Google Shape;55;p5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58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59" name="Google Shape;59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5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2" name="Google Shape;62;p58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59"/>
          <p:cNvGrpSpPr/>
          <p:nvPr/>
        </p:nvGrpSpPr>
        <p:grpSpPr>
          <a:xfrm>
            <a:off x="830394" y="4169151"/>
            <a:ext cx="745763" cy="45826"/>
            <a:chOff x="4580561" y="2589004"/>
            <a:chExt cx="1064464" cy="25200"/>
          </a:xfrm>
        </p:grpSpPr>
        <p:sp>
          <p:nvSpPr>
            <p:cNvPr id="66" name="Google Shape;66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59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5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60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73" name="Google Shape;73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60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60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6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1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81" name="Google Shape;81;p6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62"/>
          <p:cNvGrpSpPr/>
          <p:nvPr/>
        </p:nvGrpSpPr>
        <p:grpSpPr>
          <a:xfrm>
            <a:off x="830394" y="4169151"/>
            <a:ext cx="745763" cy="45826"/>
            <a:chOff x="4580561" y="2589004"/>
            <a:chExt cx="1064464" cy="25200"/>
          </a:xfrm>
        </p:grpSpPr>
        <p:sp>
          <p:nvSpPr>
            <p:cNvPr id="84" name="Google Shape;84;p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62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62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6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4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6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6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6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5"/>
          <p:cNvSpPr txBox="1">
            <a:spLocks noGrp="1"/>
          </p:cNvSpPr>
          <p:nvPr>
            <p:ph type="sldNum" idx="12"/>
          </p:nvPr>
        </p:nvSpPr>
        <p:spPr>
          <a:xfrm>
            <a:off x="4447476" y="4878958"/>
            <a:ext cx="2400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825" tIns="32825" rIns="32825" bIns="32825" anchor="t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5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345550" y="1532125"/>
            <a:ext cx="8736457" cy="1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IN" sz="3200" dirty="0">
                <a:solidFill>
                  <a:schemeClr val="bg1"/>
                </a:solidFill>
                <a:latin typeface="Fira Sans Extra Condensed" panose="020B0503050000020004" pitchFamily="34" charset="0"/>
              </a:rPr>
              <a:t>Supply Chain Control Tower: Risk, Inventory &amp; Logistics Intelligence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" sz="2700" dirty="0">
                <a:solidFill>
                  <a:schemeClr val="accent2"/>
                </a:solidFill>
              </a:rPr>
              <a:t>Analyzing supply chain’s inefficiencies - Just in Time Company</a:t>
            </a:r>
            <a:endParaRPr sz="27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4000" dirty="0">
              <a:solidFill>
                <a:srgbClr val="2F4B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title" idx="4294967295"/>
          </p:nvPr>
        </p:nvSpPr>
        <p:spPr>
          <a:xfrm>
            <a:off x="345550" y="801425"/>
            <a:ext cx="53733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820">
                <a:solidFill>
                  <a:schemeClr val="accent1"/>
                </a:solidFill>
              </a:rPr>
              <a:t>Project</a:t>
            </a:r>
            <a:endParaRPr sz="2820" b="1">
              <a:solidFill>
                <a:schemeClr val="accent1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421750" y="1440400"/>
            <a:ext cx="55377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381a228482_0_45"/>
          <p:cNvSpPr txBox="1"/>
          <p:nvPr/>
        </p:nvSpPr>
        <p:spPr>
          <a:xfrm>
            <a:off x="954969" y="2185932"/>
            <a:ext cx="22416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sz="11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g2381a228482_0_45"/>
          <p:cNvSpPr/>
          <p:nvPr/>
        </p:nvSpPr>
        <p:spPr>
          <a:xfrm>
            <a:off x="4322078" y="3729190"/>
            <a:ext cx="577200" cy="57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1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g2381a228482_0_45"/>
          <p:cNvSpPr/>
          <p:nvPr/>
        </p:nvSpPr>
        <p:spPr>
          <a:xfrm>
            <a:off x="4322078" y="921526"/>
            <a:ext cx="577200" cy="57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sz="11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g2381a228482_0_45"/>
          <p:cNvSpPr txBox="1"/>
          <p:nvPr/>
        </p:nvSpPr>
        <p:spPr>
          <a:xfrm>
            <a:off x="5082350" y="1036950"/>
            <a:ext cx="371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Briefing Recap</a:t>
            </a:r>
            <a:endParaRPr sz="11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g2381a228482_0_45"/>
          <p:cNvSpPr txBox="1"/>
          <p:nvPr/>
        </p:nvSpPr>
        <p:spPr>
          <a:xfrm>
            <a:off x="5153800" y="3838479"/>
            <a:ext cx="143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Proposal</a:t>
            </a:r>
            <a:endParaRPr sz="11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g2381a228482_0_45"/>
          <p:cNvSpPr txBox="1"/>
          <p:nvPr/>
        </p:nvSpPr>
        <p:spPr>
          <a:xfrm>
            <a:off x="5153800" y="1404012"/>
            <a:ext cx="3550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2700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Medium"/>
              <a:buChar char="•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Business performance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Medium"/>
              <a:buChar char="•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 and Product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Medium"/>
              <a:buChar char="•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Inventory management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" name="Google Shape;115;g2381a228482_0_45"/>
          <p:cNvCxnSpPr/>
          <p:nvPr/>
        </p:nvCxnSpPr>
        <p:spPr>
          <a:xfrm>
            <a:off x="-1" y="524432"/>
            <a:ext cx="9144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g2381a228482_0_45"/>
          <p:cNvSpPr txBox="1"/>
          <p:nvPr/>
        </p:nvSpPr>
        <p:spPr>
          <a:xfrm>
            <a:off x="400053" y="100981"/>
            <a:ext cx="192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Just in Time</a:t>
            </a:r>
            <a:endParaRPr sz="22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17" name="Google Shape;117;g2381a228482_0_45"/>
          <p:cNvSpPr/>
          <p:nvPr/>
        </p:nvSpPr>
        <p:spPr>
          <a:xfrm>
            <a:off x="4322078" y="2281340"/>
            <a:ext cx="577200" cy="57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1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g2381a228482_0_45"/>
          <p:cNvSpPr txBox="1"/>
          <p:nvPr/>
        </p:nvSpPr>
        <p:spPr>
          <a:xfrm>
            <a:off x="5153800" y="2390625"/>
            <a:ext cx="371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Business Intelligence Analysis</a:t>
            </a:r>
            <a:endParaRPr sz="11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g2381a228482_0_45"/>
          <p:cNvSpPr txBox="1"/>
          <p:nvPr/>
        </p:nvSpPr>
        <p:spPr>
          <a:xfrm>
            <a:off x="5162300" y="2774012"/>
            <a:ext cx="3550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2700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Medium"/>
              <a:buChar char="•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Business downturn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Medium"/>
              <a:buChar char="•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Overstock and understock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Medium"/>
              <a:buChar char="•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Delay shipment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g23d3d1a5626_0_50"/>
          <p:cNvCxnSpPr/>
          <p:nvPr/>
        </p:nvCxnSpPr>
        <p:spPr>
          <a:xfrm>
            <a:off x="-1" y="524432"/>
            <a:ext cx="9144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g23d3d1a5626_0_50"/>
          <p:cNvSpPr txBox="1"/>
          <p:nvPr/>
        </p:nvSpPr>
        <p:spPr>
          <a:xfrm>
            <a:off x="3091732" y="2121638"/>
            <a:ext cx="55503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" sz="5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Briefing Recap</a:t>
            </a:r>
            <a:endParaRPr sz="5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g23d3d1a5626_0_50"/>
          <p:cNvSpPr/>
          <p:nvPr/>
        </p:nvSpPr>
        <p:spPr>
          <a:xfrm>
            <a:off x="1151378" y="1890337"/>
            <a:ext cx="1372800" cy="13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4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sz="33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g23d3d1a5626_0_50"/>
          <p:cNvSpPr txBox="1"/>
          <p:nvPr/>
        </p:nvSpPr>
        <p:spPr>
          <a:xfrm>
            <a:off x="400053" y="100981"/>
            <a:ext cx="192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Just in Time</a:t>
            </a:r>
            <a:endParaRPr sz="22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d3d1a5626_0_15"/>
          <p:cNvSpPr txBox="1"/>
          <p:nvPr/>
        </p:nvSpPr>
        <p:spPr>
          <a:xfrm>
            <a:off x="215000" y="190950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Business performance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g23d3d1a5626_0_15"/>
          <p:cNvSpPr txBox="1"/>
          <p:nvPr/>
        </p:nvSpPr>
        <p:spPr>
          <a:xfrm>
            <a:off x="451550" y="3250625"/>
            <a:ext cx="389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However, both net sales and profit 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dropped sharply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 Q4/2017</a:t>
            </a:r>
            <a:endParaRPr sz="1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g23d3d1a5626_0_15"/>
          <p:cNvSpPr txBox="1"/>
          <p:nvPr/>
        </p:nvSpPr>
        <p:spPr>
          <a:xfrm>
            <a:off x="4732350" y="190950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Customer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g23d3d1a562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50" y="709575"/>
            <a:ext cx="4000208" cy="24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3d3d1a5626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4212" y="667950"/>
            <a:ext cx="3805428" cy="2125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g23d3d1a5626_0_15"/>
          <p:cNvCxnSpPr/>
          <p:nvPr/>
        </p:nvCxnSpPr>
        <p:spPr>
          <a:xfrm rot="10800000">
            <a:off x="7098425" y="1172150"/>
            <a:ext cx="0" cy="13992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8" name="Google Shape;138;g23d3d1a5626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4200" y="2793800"/>
            <a:ext cx="3729300" cy="21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23d3d1a5626_1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13" y="751200"/>
            <a:ext cx="4203576" cy="31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3d3d1a5626_1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6012" y="751200"/>
            <a:ext cx="4705463" cy="29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3d3d1a5626_1_51"/>
          <p:cNvSpPr txBox="1"/>
          <p:nvPr/>
        </p:nvSpPr>
        <p:spPr>
          <a:xfrm>
            <a:off x="222450" y="207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Product 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23d3d1a5626_1_51"/>
          <p:cNvSpPr txBox="1"/>
          <p:nvPr/>
        </p:nvSpPr>
        <p:spPr>
          <a:xfrm>
            <a:off x="359625" y="3772250"/>
            <a:ext cx="3762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These three departments alone account for more than </a:t>
            </a:r>
            <a:r>
              <a:rPr lang="en" sz="15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70%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orders</a:t>
            </a:r>
            <a:endParaRPr sz="1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g23d3d1a5626_1_51"/>
          <p:cNvSpPr txBox="1"/>
          <p:nvPr/>
        </p:nvSpPr>
        <p:spPr>
          <a:xfrm>
            <a:off x="4501275" y="3795350"/>
            <a:ext cx="412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There are no product names out of the top 9 could reach 1000 orders</a:t>
            </a:r>
            <a:endParaRPr sz="1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8" name="Google Shape;148;g23d3d1a5626_1_51"/>
          <p:cNvCxnSpPr/>
          <p:nvPr/>
        </p:nvCxnSpPr>
        <p:spPr>
          <a:xfrm rot="10800000">
            <a:off x="7452100" y="1505725"/>
            <a:ext cx="0" cy="19494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23d3d1a5626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125" y="513693"/>
            <a:ext cx="3802575" cy="200090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23d3d1a5626_0_38"/>
          <p:cNvSpPr txBox="1"/>
          <p:nvPr/>
        </p:nvSpPr>
        <p:spPr>
          <a:xfrm>
            <a:off x="215000" y="997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Inventory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g23d3d1a5626_0_38"/>
          <p:cNvSpPr txBox="1"/>
          <p:nvPr/>
        </p:nvSpPr>
        <p:spPr>
          <a:xfrm>
            <a:off x="2762500" y="743275"/>
            <a:ext cx="182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which, most of the orders are shipped from the US</a:t>
            </a:r>
            <a:endParaRPr sz="8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6" name="Google Shape;156;g23d3d1a5626_0_38"/>
          <p:cNvCxnSpPr>
            <a:endCxn id="155" idx="2"/>
          </p:cNvCxnSpPr>
          <p:nvPr/>
        </p:nvCxnSpPr>
        <p:spPr>
          <a:xfrm rot="10800000" flipH="1">
            <a:off x="2672800" y="1312675"/>
            <a:ext cx="1002000" cy="4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7" name="Google Shape;157;g23d3d1a5626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750" y="89050"/>
            <a:ext cx="3495700" cy="24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23d3d1a5626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9275" y="2551425"/>
            <a:ext cx="4356999" cy="2355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23d3d1a5626_0_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100" y="2619775"/>
            <a:ext cx="4357000" cy="228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g23d3d1a5626_0_64"/>
          <p:cNvCxnSpPr/>
          <p:nvPr/>
        </p:nvCxnSpPr>
        <p:spPr>
          <a:xfrm>
            <a:off x="-1" y="524432"/>
            <a:ext cx="9144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" name="Google Shape;165;g23d3d1a5626_0_64"/>
          <p:cNvSpPr txBox="1"/>
          <p:nvPr/>
        </p:nvSpPr>
        <p:spPr>
          <a:xfrm>
            <a:off x="3091732" y="2121638"/>
            <a:ext cx="55503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" sz="39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Business Intelligence Analysis</a:t>
            </a:r>
            <a:endParaRPr sz="39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g23d3d1a5626_0_64"/>
          <p:cNvSpPr/>
          <p:nvPr/>
        </p:nvSpPr>
        <p:spPr>
          <a:xfrm>
            <a:off x="1151378" y="1890337"/>
            <a:ext cx="1372800" cy="13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4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45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33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g23d3d1a5626_0_64"/>
          <p:cNvSpPr txBox="1"/>
          <p:nvPr/>
        </p:nvSpPr>
        <p:spPr>
          <a:xfrm>
            <a:off x="400053" y="100981"/>
            <a:ext cx="192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Just in Time</a:t>
            </a:r>
            <a:endParaRPr sz="22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3d3d1a5626_0_96"/>
          <p:cNvSpPr/>
          <p:nvPr/>
        </p:nvSpPr>
        <p:spPr>
          <a:xfrm>
            <a:off x="1098750" y="4133400"/>
            <a:ext cx="6946500" cy="681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absence of the old leading - best selling departments (Apparel, Fanshop, Footwear, Golf), was closely linked to this downturn.</a:t>
            </a:r>
            <a:endParaRPr sz="1600" b="1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g23d3d1a5626_0_96"/>
          <p:cNvSpPr txBox="1"/>
          <p:nvPr/>
        </p:nvSpPr>
        <p:spPr>
          <a:xfrm>
            <a:off x="6377550" y="1492800"/>
            <a:ext cx="2619900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u="sng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Apparel, Fanshop, Footwear and Golf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which were instrumental to business’s success has suddenly plummeted and </a:t>
            </a:r>
            <a:r>
              <a:rPr lang="en" sz="1200" u="sng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almost disappeared.</a:t>
            </a:r>
            <a:endParaRPr sz="1200" u="sng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g23d3d1a5626_0_96"/>
          <p:cNvSpPr txBox="1"/>
          <p:nvPr/>
        </p:nvSpPr>
        <p:spPr>
          <a:xfrm>
            <a:off x="174575" y="111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Business downturn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5" name="Google Shape;175;g23d3d1a5626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00" y="588325"/>
            <a:ext cx="6060150" cy="333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3d3d1a5626_0_96"/>
          <p:cNvSpPr txBox="1"/>
          <p:nvPr/>
        </p:nvSpPr>
        <p:spPr>
          <a:xfrm>
            <a:off x="6399550" y="2590975"/>
            <a:ext cx="26613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Meanwhile, the product departments such as </a:t>
            </a:r>
            <a:r>
              <a:rPr lang="en" sz="1200" b="1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Technology and Discs Shop 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showed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potential growth </a:t>
            </a:r>
            <a:endParaRPr u="sng">
              <a:solidFill>
                <a:schemeClr val="accent3"/>
              </a:solidFill>
            </a:endParaRPr>
          </a:p>
        </p:txBody>
      </p:sp>
      <p:cxnSp>
        <p:nvCxnSpPr>
          <p:cNvPr id="177" name="Google Shape;177;g23d3d1a5626_0_96"/>
          <p:cNvCxnSpPr>
            <a:stCxn id="175" idx="3"/>
          </p:cNvCxnSpPr>
          <p:nvPr/>
        </p:nvCxnSpPr>
        <p:spPr>
          <a:xfrm flipH="1">
            <a:off x="5830750" y="2254550"/>
            <a:ext cx="568800" cy="18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g23d3d1a5626_0_96"/>
          <p:cNvCxnSpPr>
            <a:stCxn id="176" idx="1"/>
          </p:cNvCxnSpPr>
          <p:nvPr/>
        </p:nvCxnSpPr>
        <p:spPr>
          <a:xfrm rot="10800000">
            <a:off x="5881150" y="2889925"/>
            <a:ext cx="518400" cy="98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23d4cef3cc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513900"/>
            <a:ext cx="63246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3d4cef3ccd_0_10"/>
          <p:cNvSpPr/>
          <p:nvPr/>
        </p:nvSpPr>
        <p:spPr>
          <a:xfrm>
            <a:off x="1098750" y="4133400"/>
            <a:ext cx="6946500" cy="681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This decline was not due to changing customer preferences, but rather a supply chain disruption from supplier network</a:t>
            </a:r>
            <a:endParaRPr sz="1600" b="1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g23d4cef3ccd_0_10"/>
          <p:cNvSpPr txBox="1"/>
          <p:nvPr/>
        </p:nvSpPr>
        <p:spPr>
          <a:xfrm>
            <a:off x="6377550" y="976625"/>
            <a:ext cx="2619900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Inventories of </a:t>
            </a:r>
            <a:r>
              <a:rPr lang="en" sz="1200" b="1" u="sng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Apparel, Fanshop, Footwear and Golf </a:t>
            </a:r>
            <a:r>
              <a:rPr lang="en" sz="12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almost disappeared even though there was no sign of a sharp decrease before.</a:t>
            </a:r>
            <a:endParaRPr sz="12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g23d4cef3ccd_0_10"/>
          <p:cNvSpPr txBox="1"/>
          <p:nvPr/>
        </p:nvSpPr>
        <p:spPr>
          <a:xfrm>
            <a:off x="174575" y="111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Business downturn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3d4cef3ccd_0_10"/>
          <p:cNvSpPr txBox="1"/>
          <p:nvPr/>
        </p:nvSpPr>
        <p:spPr>
          <a:xfrm>
            <a:off x="6399550" y="2209975"/>
            <a:ext cx="2796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New departments like </a:t>
            </a:r>
            <a:r>
              <a:rPr lang="en" sz="12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Technology </a:t>
            </a: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suddenly had an </a:t>
            </a:r>
            <a:r>
              <a:rPr lang="en" sz="12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increase</a:t>
            </a: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in inventory follow by a gradual decrease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88" name="Google Shape;188;g23d4cef3ccd_0_10"/>
          <p:cNvCxnSpPr>
            <a:stCxn id="185" idx="1"/>
          </p:cNvCxnSpPr>
          <p:nvPr/>
        </p:nvCxnSpPr>
        <p:spPr>
          <a:xfrm flipH="1">
            <a:off x="909450" y="1417625"/>
            <a:ext cx="5468100" cy="663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g23d4cef3ccd_0_10"/>
          <p:cNvCxnSpPr>
            <a:stCxn id="185" idx="1"/>
          </p:cNvCxnSpPr>
          <p:nvPr/>
        </p:nvCxnSpPr>
        <p:spPr>
          <a:xfrm flipH="1">
            <a:off x="5052450" y="1417625"/>
            <a:ext cx="1325100" cy="896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g23d4cef3ccd_0_10"/>
          <p:cNvCxnSpPr>
            <a:stCxn id="187" idx="1"/>
          </p:cNvCxnSpPr>
          <p:nvPr/>
        </p:nvCxnSpPr>
        <p:spPr>
          <a:xfrm flipH="1">
            <a:off x="5658850" y="2607025"/>
            <a:ext cx="740700" cy="606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d3d1a5626_0_104"/>
          <p:cNvSpPr txBox="1"/>
          <p:nvPr/>
        </p:nvSpPr>
        <p:spPr>
          <a:xfrm>
            <a:off x="174575" y="111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Inventory management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6" name="Google Shape;196;g23d3d1a5626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83" y="588325"/>
            <a:ext cx="5708841" cy="33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3d3d1a5626_0_104"/>
          <p:cNvSpPr txBox="1"/>
          <p:nvPr/>
        </p:nvSpPr>
        <p:spPr>
          <a:xfrm>
            <a:off x="6023225" y="1415025"/>
            <a:ext cx="26463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The company is frequently having </a:t>
            </a:r>
            <a:r>
              <a:rPr lang="en" sz="1200" b="1" u="sng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excessive inventory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or overstocked</a:t>
            </a:r>
            <a:endParaRPr sz="12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8" name="Google Shape;198;g23d3d1a5626_0_104"/>
          <p:cNvCxnSpPr/>
          <p:nvPr/>
        </p:nvCxnSpPr>
        <p:spPr>
          <a:xfrm>
            <a:off x="4830250" y="1645575"/>
            <a:ext cx="0" cy="79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g23d3d1a5626_0_104"/>
          <p:cNvCxnSpPr>
            <a:endCxn id="197" idx="1"/>
          </p:cNvCxnSpPr>
          <p:nvPr/>
        </p:nvCxnSpPr>
        <p:spPr>
          <a:xfrm rot="10800000" flipH="1">
            <a:off x="4840325" y="1748325"/>
            <a:ext cx="1182900" cy="333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g23d3d1a5626_0_104"/>
          <p:cNvSpPr txBox="1"/>
          <p:nvPr/>
        </p:nvSpPr>
        <p:spPr>
          <a:xfrm>
            <a:off x="6023225" y="2918800"/>
            <a:ext cx="27378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Inventory fluctuates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strongly at times, even though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customers’ demand 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is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quite stable</a:t>
            </a:r>
            <a:endParaRPr u="sng">
              <a:solidFill>
                <a:schemeClr val="accent3"/>
              </a:solidFill>
            </a:endParaRPr>
          </a:p>
        </p:txBody>
      </p:sp>
      <p:cxnSp>
        <p:nvCxnSpPr>
          <p:cNvPr id="201" name="Google Shape;201;g23d3d1a5626_0_104"/>
          <p:cNvCxnSpPr>
            <a:endCxn id="200" idx="1"/>
          </p:cNvCxnSpPr>
          <p:nvPr/>
        </p:nvCxnSpPr>
        <p:spPr>
          <a:xfrm>
            <a:off x="3910625" y="2495950"/>
            <a:ext cx="2112600" cy="819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g23d3d1a5626_0_104"/>
          <p:cNvCxnSpPr>
            <a:endCxn id="200" idx="1"/>
          </p:cNvCxnSpPr>
          <p:nvPr/>
        </p:nvCxnSpPr>
        <p:spPr>
          <a:xfrm>
            <a:off x="2648225" y="2799850"/>
            <a:ext cx="3375000" cy="516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g23d3d1a5626_0_104"/>
          <p:cNvSpPr/>
          <p:nvPr/>
        </p:nvSpPr>
        <p:spPr>
          <a:xfrm>
            <a:off x="1098750" y="4133400"/>
            <a:ext cx="6946500" cy="681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company is facing the challenge of not being able to maintain a stable warehouse inventory to meet the ordering demand of customers</a:t>
            </a:r>
            <a:endParaRPr sz="1600" b="1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3d3d1a5626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25" y="408864"/>
            <a:ext cx="4645200" cy="319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3d3d1a5626_0_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400" y="150075"/>
            <a:ext cx="4217472" cy="324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g23d3d1a5626_0_112"/>
          <p:cNvCxnSpPr/>
          <p:nvPr/>
        </p:nvCxnSpPr>
        <p:spPr>
          <a:xfrm rot="10800000">
            <a:off x="7141300" y="1215925"/>
            <a:ext cx="3000" cy="18156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1" name="Google Shape;211;g23d3d1a5626_0_112"/>
          <p:cNvSpPr txBox="1"/>
          <p:nvPr/>
        </p:nvSpPr>
        <p:spPr>
          <a:xfrm>
            <a:off x="174575" y="351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Delay shipment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g23d3d1a5626_0_112"/>
          <p:cNvSpPr txBox="1"/>
          <p:nvPr/>
        </p:nvSpPr>
        <p:spPr>
          <a:xfrm>
            <a:off x="4838075" y="3216350"/>
            <a:ext cx="4185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Most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product departments have LSRs </a:t>
            </a: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around the 40% mark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except for</a:t>
            </a: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technology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whose rates go up to more than</a:t>
            </a: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50%.</a:t>
            </a:r>
            <a:endParaRPr sz="130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g23d3d1a5626_0_112"/>
          <p:cNvSpPr txBox="1"/>
          <p:nvPr/>
        </p:nvSpPr>
        <p:spPr>
          <a:xfrm>
            <a:off x="215825" y="3416450"/>
            <a:ext cx="4185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LSR range from</a:t>
            </a: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40% to 50%</a:t>
            </a:r>
            <a:endParaRPr sz="130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g23d3d1a5626_0_112"/>
          <p:cNvSpPr/>
          <p:nvPr/>
        </p:nvSpPr>
        <p:spPr>
          <a:xfrm>
            <a:off x="508350" y="4059925"/>
            <a:ext cx="8127300" cy="78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high late shipment rate of average 40% over a long time which remains concerning and indicates inefficiencies in the shipping system that need improvement</a:t>
            </a:r>
            <a:endParaRPr sz="1600" b="1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39ccac1fab_0_45"/>
          <p:cNvSpPr txBox="1"/>
          <p:nvPr/>
        </p:nvSpPr>
        <p:spPr>
          <a:xfrm>
            <a:off x="7325" y="59825"/>
            <a:ext cx="84507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company is facing </a:t>
            </a:r>
            <a:r>
              <a:rPr lang="en" sz="16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three main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supply chain issues that need to be addressed</a:t>
            </a:r>
            <a:endParaRPr sz="160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g239ccac1fab_0_45"/>
          <p:cNvSpPr txBox="1"/>
          <p:nvPr/>
        </p:nvSpPr>
        <p:spPr>
          <a:xfrm>
            <a:off x="576000" y="2637175"/>
            <a:ext cx="2247600" cy="5865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Supply chain inefficiencies</a:t>
            </a:r>
            <a:endParaRPr b="1" i="0" u="none" strike="noStrike" cap="none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g239ccac1fab_0_45"/>
          <p:cNvSpPr txBox="1"/>
          <p:nvPr/>
        </p:nvSpPr>
        <p:spPr>
          <a:xfrm>
            <a:off x="3199400" y="1597602"/>
            <a:ext cx="1822500" cy="633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Ineffective inventory management</a:t>
            </a:r>
            <a:endParaRPr sz="13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g239ccac1fab_0_45"/>
          <p:cNvSpPr txBox="1"/>
          <p:nvPr/>
        </p:nvSpPr>
        <p:spPr>
          <a:xfrm>
            <a:off x="3199575" y="3592325"/>
            <a:ext cx="1822500" cy="633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Ineffective shipment system</a:t>
            </a:r>
            <a:endParaRPr sz="1300" b="1" i="0" u="none" strike="noStrike" cap="none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g239ccac1fab_0_45"/>
          <p:cNvSpPr txBox="1"/>
          <p:nvPr/>
        </p:nvSpPr>
        <p:spPr>
          <a:xfrm>
            <a:off x="6066850" y="2310277"/>
            <a:ext cx="1822500" cy="633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Overstock and understock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g239ccac1fab_0_45"/>
          <p:cNvSpPr txBox="1"/>
          <p:nvPr/>
        </p:nvSpPr>
        <p:spPr>
          <a:xfrm>
            <a:off x="6066850" y="821250"/>
            <a:ext cx="1822500" cy="633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Supplier network disruption</a:t>
            </a:r>
            <a:endParaRPr sz="1300" b="1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g239ccac1fab_0_45"/>
          <p:cNvSpPr txBox="1"/>
          <p:nvPr/>
        </p:nvSpPr>
        <p:spPr>
          <a:xfrm>
            <a:off x="6066850" y="3592325"/>
            <a:ext cx="1822500" cy="633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 late 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shipment rate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6" name="Google Shape;226;g239ccac1fab_0_45"/>
          <p:cNvCxnSpPr>
            <a:stCxn id="221" idx="3"/>
            <a:endCxn id="224" idx="1"/>
          </p:cNvCxnSpPr>
          <p:nvPr/>
        </p:nvCxnSpPr>
        <p:spPr>
          <a:xfrm rot="10800000" flipH="1">
            <a:off x="5021900" y="1137702"/>
            <a:ext cx="1044900" cy="77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g239ccac1fab_0_45"/>
          <p:cNvCxnSpPr>
            <a:stCxn id="223" idx="1"/>
            <a:endCxn id="221" idx="3"/>
          </p:cNvCxnSpPr>
          <p:nvPr/>
        </p:nvCxnSpPr>
        <p:spPr>
          <a:xfrm rot="10800000">
            <a:off x="5021950" y="1913977"/>
            <a:ext cx="1044900" cy="712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g239ccac1fab_0_45"/>
          <p:cNvCxnSpPr>
            <a:stCxn id="225" idx="1"/>
            <a:endCxn id="222" idx="3"/>
          </p:cNvCxnSpPr>
          <p:nvPr/>
        </p:nvCxnSpPr>
        <p:spPr>
          <a:xfrm rot="10800000">
            <a:off x="5021950" y="3908825"/>
            <a:ext cx="1044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g239ccac1fab_0_45"/>
          <p:cNvCxnSpPr>
            <a:stCxn id="220" idx="3"/>
            <a:endCxn id="221" idx="1"/>
          </p:cNvCxnSpPr>
          <p:nvPr/>
        </p:nvCxnSpPr>
        <p:spPr>
          <a:xfrm rot="10800000" flipH="1">
            <a:off x="2823600" y="1914025"/>
            <a:ext cx="375900" cy="101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g239ccac1fab_0_45"/>
          <p:cNvCxnSpPr>
            <a:stCxn id="222" idx="1"/>
            <a:endCxn id="220" idx="3"/>
          </p:cNvCxnSpPr>
          <p:nvPr/>
        </p:nvCxnSpPr>
        <p:spPr>
          <a:xfrm rot="10800000">
            <a:off x="2823675" y="2930525"/>
            <a:ext cx="375900" cy="97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g239ccac1fab_0_45"/>
          <p:cNvCxnSpPr/>
          <p:nvPr/>
        </p:nvCxnSpPr>
        <p:spPr>
          <a:xfrm>
            <a:off x="-1" y="524432"/>
            <a:ext cx="9144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g23d3d1a5626_1_2"/>
          <p:cNvCxnSpPr/>
          <p:nvPr/>
        </p:nvCxnSpPr>
        <p:spPr>
          <a:xfrm>
            <a:off x="-1" y="524432"/>
            <a:ext cx="9144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" name="Google Shape;237;g23d3d1a5626_1_2"/>
          <p:cNvSpPr txBox="1"/>
          <p:nvPr/>
        </p:nvSpPr>
        <p:spPr>
          <a:xfrm>
            <a:off x="3091732" y="2121638"/>
            <a:ext cx="55503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" sz="5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Proposal</a:t>
            </a:r>
            <a:endParaRPr sz="5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g23d3d1a5626_1_2"/>
          <p:cNvSpPr/>
          <p:nvPr/>
        </p:nvSpPr>
        <p:spPr>
          <a:xfrm>
            <a:off x="1151378" y="1890337"/>
            <a:ext cx="1372800" cy="13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4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45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33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g23d3d1a5626_1_2"/>
          <p:cNvSpPr txBox="1"/>
          <p:nvPr/>
        </p:nvSpPr>
        <p:spPr>
          <a:xfrm>
            <a:off x="400053" y="100981"/>
            <a:ext cx="192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Just in Time</a:t>
            </a:r>
            <a:endParaRPr sz="2200" b="0" i="0" u="none" strike="noStrike" cap="none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23d3d1a5626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588325"/>
            <a:ext cx="5771549" cy="337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23d3d1a5626_1_9"/>
          <p:cNvSpPr txBox="1"/>
          <p:nvPr/>
        </p:nvSpPr>
        <p:spPr>
          <a:xfrm>
            <a:off x="174575" y="111325"/>
            <a:ext cx="412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g23d3d1a5626_1_9"/>
          <p:cNvSpPr txBox="1"/>
          <p:nvPr/>
        </p:nvSpPr>
        <p:spPr>
          <a:xfrm>
            <a:off x="174575" y="111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Supplier disruption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23d3d1a5626_1_9"/>
          <p:cNvSpPr txBox="1"/>
          <p:nvPr/>
        </p:nvSpPr>
        <p:spPr>
          <a:xfrm>
            <a:off x="436900" y="3893400"/>
            <a:ext cx="5453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Over time, the tendency to join shopping online rise sharply in the LATAM, then in turn to Europe, Pacific Asia, North America and Africa. This 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trend continues to repeat</a:t>
            </a:r>
            <a:r>
              <a:rPr lang="en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from the LATAM</a:t>
            </a:r>
            <a:endParaRPr sz="120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8" name="Google Shape;248;g23d3d1a5626_1_9"/>
          <p:cNvCxnSpPr/>
          <p:nvPr/>
        </p:nvCxnSpPr>
        <p:spPr>
          <a:xfrm>
            <a:off x="485050" y="3900575"/>
            <a:ext cx="5082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g23d3d1a5626_1_9"/>
          <p:cNvSpPr txBox="1"/>
          <p:nvPr/>
        </p:nvSpPr>
        <p:spPr>
          <a:xfrm>
            <a:off x="6246700" y="588325"/>
            <a:ext cx="2814600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In </a:t>
            </a:r>
            <a:r>
              <a:rPr lang="en" sz="1200" b="1" u="sng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short term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the company should focus on suppliers in the likely </a:t>
            </a:r>
            <a:r>
              <a:rPr lang="en" sz="1200" b="1" u="sng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growing customer group in Asia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especially those that provide emerging </a:t>
            </a:r>
            <a:r>
              <a:rPr lang="en" sz="1200" b="1" u="sng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product departments</a:t>
            </a:r>
            <a:r>
              <a:rPr lang="en" sz="12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such as technology.</a:t>
            </a:r>
            <a:endParaRPr sz="12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g23d3d1a5626_1_9"/>
          <p:cNvSpPr txBox="1"/>
          <p:nvPr/>
        </p:nvSpPr>
        <p:spPr>
          <a:xfrm>
            <a:off x="6246700" y="2421375"/>
            <a:ext cx="2814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In the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long term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, the next main customer group is likely to be from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North America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, the company needs to take advantage of the time to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redesign the supplier network 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to </a:t>
            </a:r>
            <a:r>
              <a:rPr lang="en" sz="12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recalling</a:t>
            </a:r>
            <a:r>
              <a:rPr lang="en" sz="12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old best selling departments</a:t>
            </a:r>
            <a:endParaRPr u="sng">
              <a:solidFill>
                <a:schemeClr val="accent3"/>
              </a:solidFill>
            </a:endParaRPr>
          </a:p>
        </p:txBody>
      </p:sp>
      <p:cxnSp>
        <p:nvCxnSpPr>
          <p:cNvPr id="251" name="Google Shape;251;g23d3d1a5626_1_9"/>
          <p:cNvCxnSpPr>
            <a:endCxn id="249" idx="1"/>
          </p:cNvCxnSpPr>
          <p:nvPr/>
        </p:nvCxnSpPr>
        <p:spPr>
          <a:xfrm rot="10800000" flipH="1">
            <a:off x="5668900" y="1029325"/>
            <a:ext cx="577800" cy="1329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g23d3d1a5626_1_9"/>
          <p:cNvCxnSpPr>
            <a:endCxn id="249" idx="1"/>
          </p:cNvCxnSpPr>
          <p:nvPr/>
        </p:nvCxnSpPr>
        <p:spPr>
          <a:xfrm rot="10800000" flipH="1">
            <a:off x="2667700" y="1029325"/>
            <a:ext cx="3579000" cy="769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g23d3d1a5626_1_9"/>
          <p:cNvCxnSpPr>
            <a:endCxn id="250" idx="1"/>
          </p:cNvCxnSpPr>
          <p:nvPr/>
        </p:nvCxnSpPr>
        <p:spPr>
          <a:xfrm>
            <a:off x="3304300" y="2496075"/>
            <a:ext cx="2942400" cy="641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g23d3d1a5626_1_30"/>
          <p:cNvGraphicFramePr/>
          <p:nvPr/>
        </p:nvGraphicFramePr>
        <p:xfrm>
          <a:off x="952500" y="769625"/>
          <a:ext cx="7239000" cy="3931800"/>
        </p:xfrm>
        <a:graphic>
          <a:graphicData uri="http://schemas.openxmlformats.org/drawingml/2006/table">
            <a:tbl>
              <a:tblPr>
                <a:noFill/>
                <a:tableStyleId>{4B1EDE36-2210-4140-B68C-54EC92417216}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Call to action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Objective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Forecasting demand</a:t>
                      </a:r>
                      <a:endParaRPr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Analyzing historical sales data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Tracking market trends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Employing predictive analytics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Anticipate future demand, allowing to maintain an optimal inventory level.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Setting up controlling indicators for each product</a:t>
                      </a:r>
                      <a:endParaRPr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Reorder points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Lead time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Sales velocity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Desired safety stock levels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Ensuring the company replenishes stock in a timely manner without risking overstocking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Predicting the product life cycle for each region (if possible)</a:t>
                      </a:r>
                      <a:endParaRPr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Calculate the appropriate amount of inventory and chose the right product for each market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9" name="Google Shape;259;g23d3d1a5626_1_30"/>
          <p:cNvSpPr txBox="1"/>
          <p:nvPr/>
        </p:nvSpPr>
        <p:spPr>
          <a:xfrm>
            <a:off x="174575" y="111325"/>
            <a:ext cx="412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23d3d1a5626_1_30"/>
          <p:cNvSpPr txBox="1"/>
          <p:nvPr/>
        </p:nvSpPr>
        <p:spPr>
          <a:xfrm>
            <a:off x="174575" y="111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Inventory management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d3d1a5626_1_18"/>
          <p:cNvSpPr txBox="1"/>
          <p:nvPr/>
        </p:nvSpPr>
        <p:spPr>
          <a:xfrm>
            <a:off x="174575" y="111325"/>
            <a:ext cx="412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Delay shipment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66" name="Google Shape;266;g23d3d1a5626_1_18"/>
          <p:cNvGraphicFramePr/>
          <p:nvPr/>
        </p:nvGraphicFramePr>
        <p:xfrm>
          <a:off x="586725" y="674020"/>
          <a:ext cx="7970550" cy="4289835"/>
        </p:xfrm>
        <a:graphic>
          <a:graphicData uri="http://schemas.openxmlformats.org/drawingml/2006/table">
            <a:tbl>
              <a:tblPr>
                <a:noFill/>
                <a:tableStyleId>{4B1EDE36-2210-4140-B68C-54EC92417216}</a:tableStyleId>
              </a:tblPr>
              <a:tblGrid>
                <a:gridCol w="265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Call to action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Objective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 markets near the warehouse (North America, LATAM, Western Europe,...)</a:t>
                      </a:r>
                      <a:endParaRPr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Redesigned transportation route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Adopting a cross-docking strategy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Take advantage of Less - than - truckload  transportation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Reduce the turnaround time 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Reduce shipping time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 markets far away from the warehouse (Asia Pacific, SEA,...)</a:t>
                      </a:r>
                      <a:endParaRPr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Establishing a warehouse in a strategic logistics hub like Singapore in Asia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Expand the company's control on global reach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Reduce the turnaround time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Reduce the shipping time to those markets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Both</a:t>
                      </a:r>
                      <a:endParaRPr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Collaboration with local logistics companies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Leverage their local existing resources and expertise to optimize cost and supply chain 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/>
          <p:nvPr/>
        </p:nvSpPr>
        <p:spPr>
          <a:xfrm>
            <a:off x="13" y="0"/>
            <a:ext cx="91440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 txBox="1"/>
          <p:nvPr/>
        </p:nvSpPr>
        <p:spPr>
          <a:xfrm>
            <a:off x="209325" y="1999400"/>
            <a:ext cx="6142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3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FFFFFF"/>
      </a:dk1>
      <a:lt1>
        <a:srgbClr val="FFFFFF"/>
      </a:lt1>
      <a:dk2>
        <a:srgbClr val="1A1A1A"/>
      </a:dk2>
      <a:lt2>
        <a:srgbClr val="E9EDEE"/>
      </a:lt2>
      <a:accent1>
        <a:srgbClr val="FC4F00"/>
      </a:accent1>
      <a:accent2>
        <a:srgbClr val="F79540"/>
      </a:accent2>
      <a:accent3>
        <a:srgbClr val="F5C869"/>
      </a:accent3>
      <a:accent4>
        <a:srgbClr val="F5ABB9"/>
      </a:accent4>
      <a:accent5>
        <a:srgbClr val="B71375"/>
      </a:accent5>
      <a:accent6>
        <a:srgbClr val="8B1874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On-screen Show (16:9)</PresentationFormat>
  <Paragraphs>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Fira Sans Extra Condensed</vt:lpstr>
      <vt:lpstr>Lato</vt:lpstr>
      <vt:lpstr>Nunito Medium</vt:lpstr>
      <vt:lpstr>Montserrat</vt:lpstr>
      <vt:lpstr>Open Sans</vt:lpstr>
      <vt:lpstr>Arial</vt:lpstr>
      <vt:lpstr>Roboto</vt:lpstr>
      <vt:lpstr>Helvetica Neue</vt:lpstr>
      <vt:lpstr>Raleway</vt:lpstr>
      <vt:lpstr>Oswald Light</vt:lpstr>
      <vt:lpstr>Streamline</vt:lpstr>
      <vt:lpstr>Supply Chain Control Tower: Risk, Inventory &amp; Logistics Intelligence Analyzing supply chain’s inefficiencies - Just in Time Company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SHAH</cp:lastModifiedBy>
  <cp:revision>3</cp:revision>
  <dcterms:modified xsi:type="dcterms:W3CDTF">2026-06-23T09:54:27Z</dcterms:modified>
</cp:coreProperties>
</file>